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embeddedFontLst>
    <p:embeddedFont>
      <p:font typeface="Quattrocento"/>
      <p:regular r:id="rId201314"/>
    </p:embeddedFont>
    <p:embeddedFont>
      <p:font typeface="Quattrocento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7-1.png"/><Relationship Id="rId8" Type="http://schemas.openxmlformats.org/officeDocument/2006/relationships/image" Target="../media/image-7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899865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Sales Forecasting &amp; Customer Segmentation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3004245"/>
            <a:ext cx="5125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553045"/>
            <a:ext cx="4667845" cy="391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Clear Problem Statement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23577" y="1122908"/>
            <a:ext cx="5125045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Three critical business gaps are costing revenue and limiting growth potential:</a:t>
            </a:r>
            <a:endParaRPr lang="en-US" sz="1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457920"/>
            <a:ext cx="4667845" cy="9650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28216" y="1605409"/>
            <a:ext cx="431571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Sales Unpredictability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28216" y="1872481"/>
            <a:ext cx="4315718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Inability to forecast demand accurately leads to reactive, risk-prone planning cycles.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77" y="2541612"/>
            <a:ext cx="4667845" cy="9650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28216" y="2689101"/>
            <a:ext cx="431571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Inventory Misalignment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728216" y="2956173"/>
            <a:ext cx="4315718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Stock levels fail to track actual demand — resulting in costly overstock or missed sales from stockouts.</a:t>
            </a:r>
            <a:endParaRPr lang="en-US" sz="10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577" y="3625304"/>
            <a:ext cx="4667845" cy="96507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28216" y="3772793"/>
            <a:ext cx="431571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Segmentation Gap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728216" y="4039865"/>
            <a:ext cx="4315718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Lack of targeted customer insights means every customer is treated the same, leaving personalization opportunities unrealized.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99405"/>
            <a:ext cx="8096845" cy="357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End-to-End Solution Approach</a:t>
            </a:r>
            <a:endParaRPr lang="en-US" sz="2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362745"/>
            <a:ext cx="5159127" cy="29235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83932" y="1203796"/>
            <a:ext cx="2641178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Technical Pipeline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983932" y="1493639"/>
            <a:ext cx="273472" cy="273472"/>
          </a:xfrm>
          <a:prstGeom prst="roundRect">
            <a:avLst>
              <a:gd name="adj" fmla="val 6668"/>
            </a:avLst>
          </a:prstGeom>
          <a:solidFill>
            <a:srgbClr val="315251"/>
          </a:solidFill>
          <a:ln/>
        </p:spPr>
      </p:sp>
      <p:sp>
        <p:nvSpPr>
          <p:cNvPr id="6" name="Text 3"/>
          <p:cNvSpPr/>
          <p:nvPr/>
        </p:nvSpPr>
        <p:spPr>
          <a:xfrm>
            <a:off x="6034832" y="1523107"/>
            <a:ext cx="171599" cy="214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56152" y="1535385"/>
            <a:ext cx="2268959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 Preprocessing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356152" y="1812875"/>
            <a:ext cx="2268959" cy="528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Clean, normalize, and prepare raw data — handling missing values, outliers, and feature engineering for model readiness.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83932" y="2539231"/>
            <a:ext cx="273472" cy="273472"/>
          </a:xfrm>
          <a:prstGeom prst="roundRect">
            <a:avLst>
              <a:gd name="adj" fmla="val 6668"/>
            </a:avLst>
          </a:prstGeom>
          <a:solidFill>
            <a:srgbClr val="315251"/>
          </a:solidFill>
          <a:ln/>
        </p:spPr>
      </p:sp>
      <p:sp>
        <p:nvSpPr>
          <p:cNvPr id="10" name="Text 7"/>
          <p:cNvSpPr/>
          <p:nvPr/>
        </p:nvSpPr>
        <p:spPr>
          <a:xfrm>
            <a:off x="6034832" y="2568699"/>
            <a:ext cx="171599" cy="214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356152" y="2580977"/>
            <a:ext cx="2268959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Regression (Forecasting)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356152" y="2858467"/>
            <a:ext cx="2268959" cy="528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Build predictive models to forecast future sales trends, capturing seasonality, growth patterns, and external drivers.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83932" y="3584823"/>
            <a:ext cx="273472" cy="273472"/>
          </a:xfrm>
          <a:prstGeom prst="roundRect">
            <a:avLst>
              <a:gd name="adj" fmla="val 6668"/>
            </a:avLst>
          </a:prstGeom>
          <a:solidFill>
            <a:srgbClr val="315251"/>
          </a:solidFill>
          <a:ln/>
        </p:spPr>
      </p:sp>
      <p:sp>
        <p:nvSpPr>
          <p:cNvPr id="14" name="Text 11"/>
          <p:cNvSpPr/>
          <p:nvPr/>
        </p:nvSpPr>
        <p:spPr>
          <a:xfrm>
            <a:off x="6034832" y="3614291"/>
            <a:ext cx="171599" cy="214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356152" y="3626569"/>
            <a:ext cx="2268959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Clustering (Segmentation)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356152" y="3904059"/>
            <a:ext cx="2268959" cy="528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Apply unsupervised learning to identify distinct customer segments for targeted, high-impact engagement strategies.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013594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Key Findings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752823"/>
            <a:ext cx="1493044" cy="9227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2862560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Seasonal Trends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23577" y="3172271"/>
            <a:ext cx="2574280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Clear demand patterns emerge across quarters — enabling more accurate planning windows and proactive inventory adjustments.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860" y="1752823"/>
            <a:ext cx="1493044" cy="92273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84860" y="2862560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Pareto Insight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84860" y="3172271"/>
            <a:ext cx="2574280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20% of customers drive 80% of revenue.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Concentrating resources on high-value segments delivers outsized returns.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143" y="1752823"/>
            <a:ext cx="1493044" cy="9227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6143" y="2862560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 Customer Segments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6143" y="3172271"/>
            <a:ext cx="2574280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Distinct behavioral groups with unique purchasing patterns and retention profiles, each requiring a tailored engagement strategy.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78631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Business Impact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523577" y="1143000"/>
            <a:ext cx="2259137" cy="2045196"/>
          </a:xfrm>
          <a:prstGeom prst="roundRect">
            <a:avLst>
              <a:gd name="adj" fmla="val 1097"/>
            </a:avLst>
          </a:prstGeom>
          <a:solidFill>
            <a:srgbClr val="315251"/>
          </a:solidFill>
          <a:ln/>
        </p:spPr>
      </p:sp>
      <p:sp>
        <p:nvSpPr>
          <p:cNvPr id="5" name="Text 2"/>
          <p:cNvSpPr/>
          <p:nvPr/>
        </p:nvSpPr>
        <p:spPr>
          <a:xfrm>
            <a:off x="673150" y="1292572"/>
            <a:ext cx="19599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Cost Reduction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73150" y="1602284"/>
            <a:ext cx="1959992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Optimized inventory levels significantly reduce carrying costs, minimize waste, and free up working capital across the supply chain.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932286" y="1143000"/>
            <a:ext cx="2259137" cy="2045196"/>
          </a:xfrm>
          <a:prstGeom prst="roundRect">
            <a:avLst>
              <a:gd name="adj" fmla="val 1097"/>
            </a:avLst>
          </a:prstGeom>
          <a:solidFill>
            <a:srgbClr val="315251"/>
          </a:solidFill>
          <a:ln/>
        </p:spPr>
      </p:sp>
      <p:sp>
        <p:nvSpPr>
          <p:cNvPr id="8" name="Text 5"/>
          <p:cNvSpPr/>
          <p:nvPr/>
        </p:nvSpPr>
        <p:spPr>
          <a:xfrm>
            <a:off x="3081858" y="1292572"/>
            <a:ext cx="19599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Revenue Growth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81858" y="1602284"/>
            <a:ext cx="1959992" cy="1436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Improved forecasting accuracy and targeted segment strategies translate directly into higher conversion rates and increased sales volume.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23577" y="3337768"/>
            <a:ext cx="4667845" cy="1327026"/>
          </a:xfrm>
          <a:prstGeom prst="roundRect">
            <a:avLst>
              <a:gd name="adj" fmla="val 1691"/>
            </a:avLst>
          </a:prstGeom>
          <a:solidFill>
            <a:srgbClr val="315251"/>
          </a:solidFill>
          <a:ln/>
        </p:spPr>
      </p:sp>
      <p:sp>
        <p:nvSpPr>
          <p:cNvPr id="11" name="Text 8"/>
          <p:cNvSpPr/>
          <p:nvPr/>
        </p:nvSpPr>
        <p:spPr>
          <a:xfrm>
            <a:off x="673150" y="3487341"/>
            <a:ext cx="436870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Retention Improvement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73150" y="3797052"/>
            <a:ext cx="4368701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Personalized customer engagement — driven by segment intelligence — boosts loyalty, repeat purchases, and long-term lifetime value.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1435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Further Improvement Areas &amp; Next Steps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909" y="706189"/>
            <a:ext cx="7368108" cy="39026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5311" y="3495401"/>
            <a:ext cx="1714491" cy="21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Real-Time Integration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778480" y="3774360"/>
            <a:ext cx="1951322" cy="273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Stream live sources into the platform.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29853" y="1267144"/>
            <a:ext cx="1887434" cy="21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Expanded Segmentation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65964" y="1546103"/>
            <a:ext cx="1951322" cy="273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Refine cohorts with richer features.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38221" y="1052959"/>
            <a:ext cx="1951322" cy="428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Automated Recommendations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38221" y="1546103"/>
            <a:ext cx="1951322" cy="273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Deliver personalized actions at scale.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26446" y="3495527"/>
            <a:ext cx="1810008" cy="21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Continuous Monitoring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126446" y="3774486"/>
            <a:ext cx="1951322" cy="273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Observe performance and adapt models.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23577" y="4650879"/>
            <a:ext cx="8554045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Each next step builds on the current foundation — moving the system from static analysis toward a fully adaptive, self-improving intelligence platform.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024607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Justification of the Overall Project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9686" y="1768487"/>
            <a:ext cx="224358" cy="2243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9724" y="1763837"/>
            <a:ext cx="346873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Data-Driven Decision Making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09724" y="2073548"/>
            <a:ext cx="3468737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Replaces guesswork and intuition with model-backed insights, directly reducing business risk across planning functions.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1572" y="1768487"/>
            <a:ext cx="224358" cy="2243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51611" y="1763837"/>
            <a:ext cx="346881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Competitive Advantage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151611" y="2073548"/>
            <a:ext cx="3468812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Predictive capabilities and deep customer intelligence position the organization ahead of competitors still relying on historical averages.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9686" y="3095588"/>
            <a:ext cx="224358" cy="22435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9724" y="3090937"/>
            <a:ext cx="346873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Scalable Framework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09724" y="3400648"/>
            <a:ext cx="3468737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architecture supports continuous improvement — adapting to new data, shifting market conditions, and evolving business needs.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21572" y="3095588"/>
            <a:ext cx="224358" cy="22435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51611" y="3090937"/>
            <a:ext cx="346881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Proven ROI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151611" y="3400648"/>
            <a:ext cx="3468812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Cost savings, revenue uplift, and retention gains collectively validate the investment and build the case for expanded deployment.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2026-08-05T13:21:06Z</dcterms:created>
  <dcterms:modified xsi:type="dcterms:W3CDTF">2026-08-05T13:21:06Z</dcterms:modified>
</cp:coreProperties>
</file>